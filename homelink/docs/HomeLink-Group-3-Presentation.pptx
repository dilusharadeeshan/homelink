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4e4cbf35e5448c" /><Relationship Type="http://schemas.openxmlformats.org/officeDocument/2006/relationships/extended-properties" Target="/docProps/app.xml" Id="R3cada3a7a2674129" /><Relationship Type="http://schemas.openxmlformats.org/officeDocument/2006/relationships/officeDocument" Target="/ppt/presentation.xml" Id="R2e727b36f29c4c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6dc104fd7b4081"/>
  </p:sldMasterIdLst>
  <p:notesMasterIdLst>
    <p:notesMasterId xmlns:r="http://schemas.openxmlformats.org/officeDocument/2006/relationships" r:id="R762930b7fc384220"/>
  </p:notesMasterIdLst>
  <p:sldIdLst>
    <p:sldId xmlns:r="http://schemas.openxmlformats.org/officeDocument/2006/relationships" id="256" r:id="Rfe7bff15f2054739"/>
    <p:sldId xmlns:r="http://schemas.openxmlformats.org/officeDocument/2006/relationships" id="257" r:id="R8d8bc9250be243c2"/>
    <p:sldId xmlns:r="http://schemas.openxmlformats.org/officeDocument/2006/relationships" id="258" r:id="R996c8ff7a2d94b20"/>
    <p:sldId xmlns:r="http://schemas.openxmlformats.org/officeDocument/2006/relationships" id="259" r:id="R48573095ce844560"/>
    <p:sldId xmlns:r="http://schemas.openxmlformats.org/officeDocument/2006/relationships" id="260" r:id="R5240771b421048cd"/>
    <p:sldId xmlns:r="http://schemas.openxmlformats.org/officeDocument/2006/relationships" id="261" r:id="Ra7cfe42dac6644a8"/>
    <p:sldId xmlns:r="http://schemas.openxmlformats.org/officeDocument/2006/relationships" id="262" r:id="R84a0daf1abab408d"/>
    <p:sldId xmlns:r="http://schemas.openxmlformats.org/officeDocument/2006/relationships" id="263" r:id="R841bae7a8e874fed"/>
    <p:sldId xmlns:r="http://schemas.openxmlformats.org/officeDocument/2006/relationships" id="264" r:id="Ra4d163f00f174c24"/>
    <p:sldId xmlns:r="http://schemas.openxmlformats.org/officeDocument/2006/relationships" id="265" r:id="R23f16ad96e384a8c"/>
    <p:sldId xmlns:r="http://schemas.openxmlformats.org/officeDocument/2006/relationships" id="266" r:id="R4524499813c54b76"/>
    <p:sldId xmlns:r="http://schemas.openxmlformats.org/officeDocument/2006/relationships" id="267" r:id="Rb331926a166b47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de4633f7f64bff" /><Relationship Type="http://schemas.openxmlformats.org/officeDocument/2006/relationships/slideMaster" Target="/ppt/slideMasters/slideMaster1.xml" Id="R846dc104fd7b4081" /><Relationship Type="http://schemas.openxmlformats.org/officeDocument/2006/relationships/notesMaster" Target="/ppt/notesMasters/notesMaster1.xml" Id="R762930b7fc384220" /><Relationship Type="http://schemas.openxmlformats.org/officeDocument/2006/relationships/presProps" Target="/ppt/presProps.xml" Id="R3a290b93807d42f6" /><Relationship Type="http://schemas.openxmlformats.org/officeDocument/2006/relationships/tableStyles" Target="/ppt/tableStyles.xml" Id="R89d83dc9ad4b4436" /><Relationship Type="http://schemas.openxmlformats.org/officeDocument/2006/relationships/slide" Target="/ppt/slides/slide1.xml" Id="Rfe7bff15f2054739" /><Relationship Type="http://schemas.openxmlformats.org/officeDocument/2006/relationships/slide" Target="/ppt/slides/slide2.xml" Id="R8d8bc9250be243c2" /><Relationship Type="http://schemas.openxmlformats.org/officeDocument/2006/relationships/slide" Target="/ppt/slides/slide3.xml" Id="R996c8ff7a2d94b20" /><Relationship Type="http://schemas.openxmlformats.org/officeDocument/2006/relationships/slide" Target="/ppt/slides/slide4.xml" Id="R48573095ce844560" /><Relationship Type="http://schemas.openxmlformats.org/officeDocument/2006/relationships/slide" Target="/ppt/slides/slide5.xml" Id="R5240771b421048cd" /><Relationship Type="http://schemas.openxmlformats.org/officeDocument/2006/relationships/slide" Target="/ppt/slides/slide6.xml" Id="Ra7cfe42dac6644a8" /><Relationship Type="http://schemas.openxmlformats.org/officeDocument/2006/relationships/slide" Target="/ppt/slides/slide7.xml" Id="R84a0daf1abab408d" /><Relationship Type="http://schemas.openxmlformats.org/officeDocument/2006/relationships/slide" Target="/ppt/slides/slide8.xml" Id="R841bae7a8e874fed" /><Relationship Type="http://schemas.openxmlformats.org/officeDocument/2006/relationships/slide" Target="/ppt/slides/slide9.xml" Id="Ra4d163f00f174c24" /><Relationship Type="http://schemas.openxmlformats.org/officeDocument/2006/relationships/slide" Target="/ppt/slides/slide10.xml" Id="R23f16ad96e384a8c" /><Relationship Type="http://schemas.openxmlformats.org/officeDocument/2006/relationships/slide" Target="/ppt/slides/slide11.xml" Id="R4524499813c54b76" /><Relationship Type="http://schemas.openxmlformats.org/officeDocument/2006/relationships/slide" Target="/ppt/slides/slide12.xml" Id="Rb331926a166b47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f4833843c640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24f1badf9b43e7" /><Relationship Type="http://schemas.openxmlformats.org/officeDocument/2006/relationships/notesMaster" Target="/ppt/notesMasters/notesMaster1.xml" Id="Rdd47fcf6f76649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2de9204d704840" /><Relationship Type="http://schemas.openxmlformats.org/officeDocument/2006/relationships/notesMaster" Target="/ppt/notesMasters/notesMaster1.xml" Id="R43619b11e5dd4d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a60769571145e1" /><Relationship Type="http://schemas.openxmlformats.org/officeDocument/2006/relationships/notesMaster" Target="/ppt/notesMasters/notesMaster1.xml" Id="R57b458e045f14b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a71a39bfc04a7c" /><Relationship Type="http://schemas.openxmlformats.org/officeDocument/2006/relationships/notesMaster" Target="/ppt/notesMasters/notesMaster1.xml" Id="R5b298e8066604a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ae653dff09488c" /><Relationship Type="http://schemas.openxmlformats.org/officeDocument/2006/relationships/notesMaster" Target="/ppt/notesMasters/notesMaster1.xml" Id="R22d18cb4ddea49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e5c5b3d8324e3a" /><Relationship Type="http://schemas.openxmlformats.org/officeDocument/2006/relationships/notesMaster" Target="/ppt/notesMasters/notesMaster1.xml" Id="R0030d47d18a34a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09619810bd4282" /><Relationship Type="http://schemas.openxmlformats.org/officeDocument/2006/relationships/notesMaster" Target="/ppt/notesMasters/notesMaster1.xml" Id="R2d6334d6d05941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a4b60080324ac1" /><Relationship Type="http://schemas.openxmlformats.org/officeDocument/2006/relationships/notesMaster" Target="/ppt/notesMasters/notesMaster1.xml" Id="R2eb8b3cb02dc45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44388011974f47" /><Relationship Type="http://schemas.openxmlformats.org/officeDocument/2006/relationships/notesMaster" Target="/ppt/notesMasters/notesMaster1.xml" Id="R6e01d59637b34d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1ce62474f249d1" /><Relationship Type="http://schemas.openxmlformats.org/officeDocument/2006/relationships/notesMaster" Target="/ppt/notesMasters/notesMaster1.xml" Id="Rd057b1d6b44943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4257fff0524671" /><Relationship Type="http://schemas.openxmlformats.org/officeDocument/2006/relationships/notesMaster" Target="/ppt/notesMasters/notesMaster1.xml" Id="Rba6f6e1b793447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8bf57fab5b4ca4" /><Relationship Type="http://schemas.openxmlformats.org/officeDocument/2006/relationships/notesMaster" Target="/ppt/notesMasters/notesMaster1.xml" Id="R71d82736657f49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introduce the five group members using their real names. Explain the home-services booking domain. Source: the supplied HomeLink Project Proposal.pdf and ICT2232 assignment. Image: Unsplash photo-1600210492486-724fe5c67fb0; illustrative, not a real provider or customer.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docs/PROJECT-REPORT.md sections 1-3 and provided proposal. These are design-analysis findings, not survey statistics. Explain one customer and provider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docs/REQUIREMENTS.md and AGILE-PLAN.md. FR-01 through FR-17 preserve the proposal identifiers. FR-18 reviews, FR-19 cancellation, FR-20 completion tracking. No payment gateway, chat, SMS, GPS or native mobile app. Payments are made directly to the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routes/web.php, BookingPolicy, ServiceListingPolicy, EnsureRole and ActiveAccount middleware. An ordinary user cannot become an administrator through registration. Suspending an account invalidates its access on subsequent requests.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docs/DESIGN.md D-01, composer.lock and package-lock.json. Laravel 13.32.0, PHP 8.4.25. SQLite tested; Docker and MySQL execution are not claimed. All diagrams in this deck use editable native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docs/DESIGN.md D-03/D-04 and database migration. The quote and service title are copied into the booking to preserve history. Slot uniqueness is enforced by the database and booking creation is transactional.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BookingStatus enum, BookingService and CancellationTest. A customer request starts pending. Providers cannot skip to completed or reopen terminal states. For classroom demonstration, providers can advance a future booking; chronological enforcement is a future refinement.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resources/views, resources/css/app.css and resources/js/app.js. UI inspected at desktop size and 390 x 844. GSAP handles entrance/reveal animations; essential information does not depend on animation. Image: Unsplash photo-1581578731548-c64695cc6952. Switch to the live application to show the actual screens.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docs/evidence/final-junit.xml, composer-audit.json, npm-audit.json and QA-SUMMARY.md, 16 September 2026. No failed tests or skipped tests. Audit is point-in-time, not proof of no vulnerabilities. Live booking HL-00030 was completed/reviewed; HL-00029 was cancelled. No production load benchmark or full WCAG certification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docs/SECURITY.md contains 12 threats, likelihood/impact, controls and residual risk. Tests cover credential handling, privilege injection, ownership, conflicting slots, invalid transitions and missing CSRF tokens. Production hardening still needs hosting-specific TLS/secrets, backups and monitoring.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docs/MAINTENANCE.md. Baseline commit c0fd7c9 had 79 tests/213 assertions. Final suite has 88 tests/241 assertions. CR-01 is an implemented candidate maintenance increment; lecturer approval remains pending and must not be represented as already granted. Explain impact analysis and rollback from the maintenance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the local application with START HOMELINK.cmd under Desktop/SE_project. URL http://127.0.0.1:8000. Demo emails customer@homelink.test, provider@homelink.test, admin@homelink.test; shared password HomeLink@123. Use fictional demo data only. Source: docs/DEMO.md, USER-GUIDE.md and CONTRIBUTIONS.md. No public hosting or remote CI run. The source is AI-assisted; students should understand and verify it and report their own contributions honestly.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f9ec1c1a648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c41c7428443ab" /><Relationship Type="http://schemas.openxmlformats.org/officeDocument/2006/relationships/slideLayout" Target="/ppt/slideLayouts/slideLayout1.xml" Id="R513184347a454f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3184347a454f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5db2f0874467c" /><Relationship Type="http://schemas.openxmlformats.org/officeDocument/2006/relationships/image" Target="/ppt/media/image.jpeg" Id="Rf6e0f3ba2f3644a4" /><Relationship Type="http://schemas.openxmlformats.org/officeDocument/2006/relationships/notesSlide" Target="/ppt/notesSlides/notesSlide1.xml" Id="Rc3b79bf92c2547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3ee75cb584ea7" /><Relationship Type="http://schemas.openxmlformats.org/officeDocument/2006/relationships/notesSlide" Target="/ppt/notesSlides/notesSlide2.xml" Id="R549a9aca796a40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2a444556e4f91" /><Relationship Type="http://schemas.openxmlformats.org/officeDocument/2006/relationships/notesSlide" Target="/ppt/notesSlides/notesSlide3.xml" Id="Ra7050fdcad3247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7bb9c20b7472b" /><Relationship Type="http://schemas.openxmlformats.org/officeDocument/2006/relationships/notesSlide" Target="/ppt/notesSlides/notesSlide4.xml" Id="Rbd062698a63341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5d8eb5de846b6" /><Relationship Type="http://schemas.openxmlformats.org/officeDocument/2006/relationships/notesSlide" Target="/ppt/notesSlides/notesSlide5.xml" Id="R6f9f6feed99c41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ed47bc43e4c9e" /><Relationship Type="http://schemas.openxmlformats.org/officeDocument/2006/relationships/notesSlide" Target="/ppt/notesSlides/notesSlide6.xml" Id="Rb18f59fb8ac447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ddd574d3b405d" /><Relationship Type="http://schemas.openxmlformats.org/officeDocument/2006/relationships/notesSlide" Target="/ppt/notesSlides/notesSlide7.xml" Id="R438c0cdacba045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c68549f5e4d90" /><Relationship Type="http://schemas.openxmlformats.org/officeDocument/2006/relationships/image" Target="/ppt/media/image2.jpeg" Id="R4a1aedb30c9b479d" /><Relationship Type="http://schemas.openxmlformats.org/officeDocument/2006/relationships/notesSlide" Target="/ppt/notesSlides/notesSlide8.xml" Id="R43108805a42b46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4b06197bd4fef" /><Relationship Type="http://schemas.openxmlformats.org/officeDocument/2006/relationships/notesSlide" Target="/ppt/notesSlides/notesSlide9.xml" Id="R51121fdb56054d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e7efb3ac741c7" /><Relationship Type="http://schemas.openxmlformats.org/officeDocument/2006/relationships/notesSlide" Target="/ppt/notesSlides/notesSlide10.xml" Id="Rf8315e2fc2f440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2d427f6774863" /><Relationship Type="http://schemas.openxmlformats.org/officeDocument/2006/relationships/notesSlide" Target="/ppt/notesSlides/notesSlide11.xml" Id="Ra852f9894d2247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7e07c28304cc4" /><Relationship Type="http://schemas.openxmlformats.org/officeDocument/2006/relationships/notesSlide" Target="/ppt/notesSlides/notesSlide12.xml" Id="R14ffaa58bf9f42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0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1EDAC-591C-416D-83D8-CCC094FF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04F58-D649-434A-9FAF-7D641733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D3C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9D3CB"/>
                </a:solidFill>
                <a:latin typeface="Arial"/>
                <a:ea typeface="Arial"/>
                <a:cs typeface="Arial"/>
              </a:rPr>
              <a:t>HomeLink · 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EE007-63E6-4D46-8660-ADB3C373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D3C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9D3C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0f3ba2f3644a4"/>
          <a:srcRect xmlns:a="http://schemas.openxmlformats.org/drawingml/2006/main" l="18790" t="0" r="187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0"/>
            <a:ext cx="5010150" cy="6019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A7D70-F066-4FBA-87E1-CD071049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04975"/>
            <a:ext cx="6191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HomeLink.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0CFC3-C48C-4DCB-B778-04C07BF9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791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9D3C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9D3CB"/>
                </a:solidFill>
                <a:latin typeface="Arial"/>
                <a:ea typeface="Arial"/>
                <a:cs typeface="Arial"/>
              </a:rPr>
              <a:t>Home services, thoughtfully connected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335F5-5BFC-4D63-8356-AC986890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595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ICT2232 · Software Engineering Mini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B88DA-5C69-420B-8E06-FD79E258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D3C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D3CB"/>
                </a:solidFill>
                <a:latin typeface="Arial"/>
                <a:ea typeface="Arial"/>
                <a:cs typeface="Arial"/>
              </a:rPr>
              <a:t>Group 3 · 16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08701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454C5-1757-4D63-BBEF-391EABA5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The coordination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D4993-22F9-470E-96AD-86A704BC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HomeLink · 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45B69-85DC-4014-9F70-D780C532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10A93-6666-4E39-B602-39648B5F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Households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A46DC-663C-4B3F-B220-9A4718A6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Finding the right person, understanding a quote and agreeing a visit can involve separate conversations.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EE0B6-B1F7-42FB-B962-E2611ADA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6690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Providers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18E6D-044B-4920-ABE6-7A4A8928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Service details and incoming requests need a clear place to live. Overlapping appointments create avoidable problems.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D8FBB-6DCD-402B-8FBC-75DC4201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HomeLink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0D28D-6199-4CAC-B8CD-4DF57A86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One service catalog, one booking record and a visible journey from request to completion.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0DE4C-4755-4544-9217-10CB00D2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Problem framing comes from the proposal. Real stakeholder interviews remain for the group.</a:t>
            </a:r>
          </a:p>
        </p:txBody>
      </p:sp>
    </p:spTree>
    <p:extLst>
      <p:ext uri="{BB962C8B-B14F-4D97-AF65-F5344CB8AC3E}">
        <p14:creationId xmlns:p14="http://schemas.microsoft.com/office/powerpoint/2010/main" val="2008128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4AA3A-E3F6-44AF-98DA-7D758833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Scope and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56737-41C0-4D63-B553-02BAA4AB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HomeLink · 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D3178-88F3-4FD7-9FAF-B8E58DCE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B673A-CD50-4028-BA2C-3EABDC4F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DB29F-7A8D-491D-B200-ABF283A8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functional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8A02C-266D-4E97-851B-2F3B6D34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04975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0D5A2-448B-47E5-BD69-3DA39A62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24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quality 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5BC93-7AF2-4E36-9CD1-5457C191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04975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E2258-C1ED-467E-98FD-3C01FD5C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user stories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39BAC-C0AD-4B64-917E-EF709824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Core delivery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977B9-95F1-4D26-B260-983FCDED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Accounts · roles · profiles · listings</a:t>
            </a:r>
          </a:p>
          <a:p xmlns:a="http://schemas.openxmlformats.org/drawingml/2006/main">
            <a:pPr>
              <a:defRPr sz="187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Search · booking · status history · administration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44934-577C-47C4-92EA-29123538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Selected extensions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AD966-5533-4A85-9189-D3F922B1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05325"/>
            <a:ext cx="4667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Reviews after completed bookings</a:t>
            </a:r>
          </a:p>
          <a:p xmlns:a="http://schemas.openxmlformats.org/drawingml/2006/main">
            <a:pPr>
              <a:defRPr sz="187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Eligible customer cancellation</a:t>
            </a:r>
          </a:p>
        </p:txBody>
      </p:sp>
    </p:spTree>
    <p:extLst>
      <p:ext uri="{BB962C8B-B14F-4D97-AF65-F5344CB8AC3E}">
        <p14:creationId xmlns:p14="http://schemas.microsoft.com/office/powerpoint/2010/main" val="210071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E140E-9A90-4EA1-B75F-A3E0579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Three roles, controlled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9B537-1693-4AC4-9BCF-096BA8AA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HomeLink · 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4209C-1426-4A39-8C2C-96A4B88A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A1CE0-500B-4337-9794-A6CCBC32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0C94E-7D44-4E3D-AFD5-5C36E4BA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Discover services</a:t>
            </a:r>
          </a:p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Request a two-hour slot</a:t>
            </a:r>
          </a:p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Track, cancel and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4875C-5D30-4ECF-B1AC-B0116BC0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Provider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681D0-F497-4990-87C6-431CDEF6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Manage owned listings</a:t>
            </a:r>
          </a:p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Accept or reject requests</a:t>
            </a:r>
          </a:p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Start and complete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75A23-EE4F-41F2-851E-C7770192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BDFB5-54F3-4FCB-8597-A378C7DD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1940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Inspect platform activity</a:t>
            </a:r>
          </a:p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Search accounts</a:t>
            </a:r>
          </a:p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Suspend or reactivate 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5B0EE-EC32-40B6-ABC4-BAF3132D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78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Role checks protect routes. Policies also check ownership of each booking and service.</a:t>
            </a:r>
          </a:p>
        </p:txBody>
      </p:sp>
    </p:spTree>
    <p:extLst>
      <p:ext uri="{BB962C8B-B14F-4D97-AF65-F5344CB8AC3E}">
        <p14:creationId xmlns:p14="http://schemas.microsoft.com/office/powerpoint/2010/main" val="1856458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187A5-C582-49D5-8A6D-77D2F463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One Laravel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422D5-40CC-41B0-8392-90E133FE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HomeLink · 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60592-DE4E-4F1E-AF49-51D7121F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50FF5-87F4-4F8A-8B34-D17FCA5D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19526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0"/>
          </a:solidFill>
          <a:ln xmlns:a="http://schemas.openxmlformats.org/drawingml/2006/main" w="9525">
            <a:solidFill>
              <a:srgbClr val="BDD3C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EA490-885F-4E49-B59E-260AF05B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5A31B-BE5F-44A1-9AD1-F9EA5883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666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Blade pages</a:t>
            </a:r>
          </a:p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Desktop / mobile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BBA66-1C26-4998-A895-B5080A82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57500"/>
            <a:ext cx="37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8CED1-55BB-4444-8F37-CB3F35C9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390775"/>
            <a:ext cx="19526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0"/>
          </a:solidFill>
          <a:ln xmlns:a="http://schemas.openxmlformats.org/drawingml/2006/main" w="9525">
            <a:solidFill>
              <a:srgbClr val="BDD3C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F3849-A738-4501-ABCD-55C79E20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24125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Web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A384E-7120-4C59-A647-0BFA904B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62275"/>
            <a:ext cx="1666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Sessions + CSRF</a:t>
            </a:r>
          </a:p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DEC71-BE05-41C2-BE7A-45541CF0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57500"/>
            <a:ext cx="37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9430F-F3CD-4C35-9186-BBA83483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90775"/>
            <a:ext cx="19526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0"/>
          </a:solidFill>
          <a:ln xmlns:a="http://schemas.openxmlformats.org/drawingml/2006/main" w="9525">
            <a:solidFill>
              <a:srgbClr val="BDD3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8D7B5-9F04-4673-A4B6-CCA0E087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524125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71CE0-0FE4-4B14-9489-080D0A3A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62275"/>
            <a:ext cx="1666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Controllers</a:t>
            </a:r>
          </a:p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Policies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1E78F-3CE5-412F-804C-F1FF7E7D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37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C3967-22C9-48F6-A0A4-5F4C9147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390775"/>
            <a:ext cx="19526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0"/>
          </a:solidFill>
          <a:ln xmlns:a="http://schemas.openxmlformats.org/drawingml/2006/main" w="9525">
            <a:solidFill>
              <a:srgbClr val="BDD3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2A4DD-CC7F-42C4-A3FC-0EECB7FC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24125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769C6-C664-4271-9B60-23F4CD75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62275"/>
            <a:ext cx="1666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BookingService</a:t>
            </a:r>
          </a:p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Eloquent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F928F-E8E2-44E6-B950-CC8423AF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57500"/>
            <a:ext cx="37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D8BB4-714A-4F5C-827A-C542446B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90775"/>
            <a:ext cx="19526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0"/>
          </a:solidFill>
          <a:ln xmlns:a="http://schemas.openxmlformats.org/drawingml/2006/main" w="9525">
            <a:solidFill>
              <a:srgbClr val="BDD3C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64920-F2B6-4673-AC53-D83BD221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24125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4BA29-D60E-44DE-800D-669F08A4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962275"/>
            <a:ext cx="1666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SQLite</a:t>
            </a:r>
          </a:p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Persistent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0E255-383E-43BD-B480-EC3AE3CF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Vite builds Tailwind CSS, Alpine interactions, GSAP animations and local fonts.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A919A9-2242-43B2-9B08-E6628B94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8775"/>
            <a:ext cx="1076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A modular monolith keeps setup and testing manageable for a five-person mini project.</a:t>
            </a:r>
          </a:p>
        </p:txBody>
      </p:sp>
    </p:spTree>
    <p:extLst>
      <p:ext uri="{BB962C8B-B14F-4D97-AF65-F5344CB8AC3E}">
        <p14:creationId xmlns:p14="http://schemas.microsoft.com/office/powerpoint/2010/main" val="1522462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7DAD8-112E-46E4-9201-D85D257F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Bookings preserve the important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EAB45-6457-4309-AF25-37D706EE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HomeLink · 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782B6-BA6A-4FA8-A545-59070D0C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5F571-C6C9-49BE-89C6-CD93CE42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0"/>
          </a:solidFill>
          <a:ln xmlns:a="http://schemas.openxmlformats.org/drawingml/2006/main" w="9525">
            <a:solidFill>
              <a:srgbClr val="BDD3C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38F78-8368-4ACB-9D35-CB0CDA07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859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User + category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7E6C7-0700-44B8-9D1F-8713E4B7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Own and organize services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4A45B-9A02-4460-932B-FCD1EF1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05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F53C7-D4F4-4E5F-B186-2ADE4E90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52625"/>
            <a:ext cx="3162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0"/>
          </a:solidFill>
          <a:ln xmlns:a="http://schemas.openxmlformats.org/drawingml/2006/main" w="9525">
            <a:solidFill>
              <a:srgbClr val="BDD3C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5D592-63FB-4728-A434-EA026FB4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85975"/>
            <a:ext cx="287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Service listing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5584D-6CA6-4EE8-B365-BD9D1AE4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24125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Title, description, city, price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92A72-5CD8-4286-9ADE-27324930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05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54E6A-8196-440E-805F-533E914D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52625"/>
            <a:ext cx="3086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0"/>
          </a:solidFill>
          <a:ln xmlns:a="http://schemas.openxmlformats.org/drawingml/2006/main" w="9525">
            <a:solidFill>
              <a:srgbClr val="BDD3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978B8-C7B0-43E4-A796-CF4333CC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85975"/>
            <a:ext cx="2800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Booking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5CAC7-8295-4A66-91A9-39A94FE0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2412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Quote + title 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717E6-3C56-4C80-98AA-29189AAC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A booking also connects 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C6FE9-4FCE-4A64-8773-DC7F846E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Reserved slot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B26D8-B45B-450A-A940-119B13BE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Unique provider and start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1E4C0-2917-45AB-B129-3236A969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386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Timeline events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5B2AD-3C6E-4BA5-AAAE-99B53487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482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Who changed the status, and when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09C87-42C8-486B-A88C-69438A1B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One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46B1E-0A30-462D-8B07-4E3D28CE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Only its customer can review completed work</a:t>
            </a:r>
          </a:p>
        </p:txBody>
      </p:sp>
    </p:spTree>
    <p:extLst>
      <p:ext uri="{BB962C8B-B14F-4D97-AF65-F5344CB8AC3E}">
        <p14:creationId xmlns:p14="http://schemas.microsoft.com/office/powerpoint/2010/main" val="1700132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0F99E-2650-4AB7-BC17-63AF62D8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The booking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4BB37-CA5B-4CC6-9FBE-77EEC1B0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HomeLink · 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363D3-2DCD-4471-B54C-37882C67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8AE42-3142-463E-93BD-9501D6F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762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80E56-D9C7-4187-BB9B-409C325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1847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FEDEA-48BF-4024-BB2F-AF29AF2A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57500"/>
            <a:ext cx="485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71406-0415-48E2-A606-5F7B7FD7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09775"/>
            <a:ext cx="1762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886EB-7097-469E-BDF1-624F57DE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24175"/>
            <a:ext cx="1847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Accept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E4EA5-A78E-44D4-8AA7-DF5F426E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57500"/>
            <a:ext cx="485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95D84-F1EC-4889-9438-47BE54F1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9775"/>
            <a:ext cx="1762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D9FCE-0EBF-4E3E-9111-9914449B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24175"/>
            <a:ext cx="1847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FD5A7-3266-4E14-8F26-84B46440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857500"/>
            <a:ext cx="485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8F19E-E5ED-4E7C-9B21-82757B0C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09775"/>
            <a:ext cx="1762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BD4CE-09AA-4201-9A9B-4E398990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24175"/>
            <a:ext cx="1847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EBB49-841B-4766-9921-6AE23FB2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485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13DF3-A6B1-4A38-951C-92FFABB8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09775"/>
            <a:ext cx="1762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3BA1B-E885-471B-A3EC-6D53F015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24175"/>
            <a:ext cx="1847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94D83-8EDC-4A95-A7F1-F7C9D677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Rejected or cancelled requests release the slot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A07CB-7701-4F37-8426-2D5B60A2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Cancellation: the owner may cancel a pending or accepted booking at least two hours before the appointment.</a:t>
            </a:r>
          </a:p>
        </p:txBody>
      </p:sp>
    </p:spTree>
    <p:extLst>
      <p:ext uri="{BB962C8B-B14F-4D97-AF65-F5344CB8AC3E}">
        <p14:creationId xmlns:p14="http://schemas.microsoft.com/office/powerpoint/2010/main" val="1284913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1325D-6DA8-4BD7-9950-E67D97FD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Interface and motion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E3692-63D3-4854-9C44-37D1502A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HomeLink · 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2D1F6-7B54-4D5B-8577-C3562430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aedb30c9b479d"/>
          <a:srcRect xmlns:a="http://schemas.openxmlformats.org/drawingml/2006/main" l="11882" t="0" r="118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5150" y="1638300"/>
            <a:ext cx="4629150" cy="4048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07B88-D9D9-4EFF-8072-A0220AA3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A clear next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48BCD-D412-4ADC-91AC-9527B9A5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7626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Search, compare a service and choose a time. Booking details keep contacts and progress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7C1D9-4FF5-4FCC-8A98-E241FBD0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Responsive and considerate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FBEAA-C9C1-4E03-BD69-E8391946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5762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Mobile navigation, visible feedback, confirmation dialogs and reduced-motion support.</a:t>
            </a:r>
          </a:p>
        </p:txBody>
      </p:sp>
    </p:spTree>
    <p:extLst>
      <p:ext uri="{BB962C8B-B14F-4D97-AF65-F5344CB8AC3E}">
        <p14:creationId xmlns:p14="http://schemas.microsoft.com/office/powerpoint/2010/main" val="3357817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30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8134C-ECBA-4300-83C0-F8976829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3AE8B-C1D7-43AD-863F-EF623BAD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D3C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9D3CB"/>
                </a:solidFill>
                <a:latin typeface="Arial"/>
                <a:ea typeface="Arial"/>
                <a:cs typeface="Arial"/>
              </a:rPr>
              <a:t>HomeLink · 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5CDC3-2318-4556-8168-2084D597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D3C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9D3C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99CBD-0CB5-41C6-BFA6-40277AC3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32099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2DCC5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A2DCC5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313C5-FF6A-4F36-AC4E-8F2C4C71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209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passing automated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39ED7-AD2E-4CCD-B753-8B93D847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14525"/>
            <a:ext cx="32099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2DCC5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A2DCC5"/>
                </a:solidFill>
                <a:latin typeface="Arial"/>
                <a:ea typeface="Arial"/>
                <a:cs typeface="Arial"/>
              </a:rPr>
              <a:t>241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15F60-DA92-49EA-86EC-94B43887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95625"/>
            <a:ext cx="3209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assertions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65E81-E64F-49EF-AE07-EEC137FC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14525"/>
            <a:ext cx="32099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2DCC5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A2DCC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804E7-21F0-4DA4-B440-BCA00D23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95625"/>
            <a:ext cx="3209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reported dependency advisories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F51ED-1BF2-49B3-B84F-689E219F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browser: booking → provider progress → customer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5278E-D366-4099-9050-B6E31A99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9D3C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D3CB"/>
                </a:solidFill>
                <a:latin typeface="Arial"/>
                <a:ea typeface="Arial"/>
                <a:cs typeface="Arial"/>
              </a:rPr>
              <a:t>Cancellation, role dashboards and mobile layouts also checked</a:t>
            </a:r>
          </a:p>
        </p:txBody>
      </p:sp>
    </p:spTree>
    <p:extLst>
      <p:ext uri="{BB962C8B-B14F-4D97-AF65-F5344CB8AC3E}">
        <p14:creationId xmlns:p14="http://schemas.microsoft.com/office/powerpoint/2010/main" val="4696664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3AAAB-FE7F-4ED8-AC96-20945012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Security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2E0CD-D175-4F9D-ADE8-C67DF188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HomeLink · 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F4551-ECE6-4B11-868A-AD618635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BEB71-C839-4CD9-98B6-E070A8A5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Private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0FCAB-D418-4234-8F67-D73FADD8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43075"/>
            <a:ext cx="69627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Policies check the booking participant or listing owner.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A0FFD-9EF6-4BC9-A4E5-9371EDA2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Safe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B8524-8698-4C5D-821C-84C0C543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95625"/>
            <a:ext cx="69627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CSRF protection, validation, escaped output and rate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EB3DA-65D7-4F35-A75B-5CB7A907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Reliable reservations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53F65-106B-4CE1-ADB0-A09534FD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48175"/>
            <a:ext cx="69627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Transactions and a unique provider/time slot prevent partial or duplicate requests.</a:t>
            </a:r>
          </a:p>
        </p:txBody>
      </p:sp>
    </p:spTree>
    <p:extLst>
      <p:ext uri="{BB962C8B-B14F-4D97-AF65-F5344CB8AC3E}">
        <p14:creationId xmlns:p14="http://schemas.microsoft.com/office/powerpoint/2010/main" val="1302652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D40DE-4F07-482E-8B17-7F521F86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Maintenance change CR-01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73A8D-C7EB-4A01-B1DD-2F59F6F5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HomeLink · 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97F32-7D2A-465F-9E3E-8046AD93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12276-1D17-40F6-9C75-B1C05028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4953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36A70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C6005-37F5-4ED8-8621-24D42AF6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48958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Customers could follow a booking, but could not cancel it themselves.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49F00-8944-46FE-B8F8-D679EA63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95475"/>
            <a:ext cx="485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9D25E-4452-4A47-9FF3-E70FC667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57475"/>
            <a:ext cx="48196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Eligible customers cancel through a confirmation dialog. The slot is released and history is retained.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178E1-74EC-4A95-B657-7B7148AE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0734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9 additional tests cover ownership, timing, state, repeat cancellation and slot reuse.</a:t>
            </a:r>
          </a:p>
        </p:txBody>
      </p:sp>
    </p:spTree>
    <p:extLst>
      <p:ext uri="{BB962C8B-B14F-4D97-AF65-F5344CB8AC3E}">
        <p14:creationId xmlns:p14="http://schemas.microsoft.com/office/powerpoint/2010/main" val="18655650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EB0E8-A63F-4406-B3E7-3C52DEF9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3039"/>
                </a:solidFill>
                <a:latin typeface="Arial"/>
                <a:ea typeface="Arial"/>
                <a:cs typeface="Arial"/>
              </a:rPr>
              <a:t>Demonstration and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55AA9-5E20-45EC-B5D9-ACF318D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HomeLink · 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AD9DA-412F-4B1B-AF81-73BD3958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A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E4EAD-06EB-4B36-9EB0-CDEF4E27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519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0FF76-A17C-4336-9672-BBF7E48D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810250" cy="286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1  Browse and filter</a:t>
            </a:r>
          </a:p>
          <a:p xmlns:a="http://schemas.openxmlformats.org/drawingml/2006/main">
            <a:pPr>
              <a:defRPr sz="195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2  Request a booking</a:t>
            </a:r>
          </a:p>
          <a:p xmlns:a="http://schemas.openxmlformats.org/drawingml/2006/main">
            <a:pPr>
              <a:defRPr sz="195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3  Accept, start and complete</a:t>
            </a:r>
          </a:p>
          <a:p xmlns:a="http://schemas.openxmlformats.org/drawingml/2006/main">
            <a:pPr>
              <a:defRPr sz="195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4  Review or demonstrate cancellation</a:t>
            </a:r>
          </a:p>
          <a:p xmlns:a="http://schemas.openxmlformats.org/drawingml/2006/main">
            <a:pPr>
              <a:defRPr sz="195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5  Inspect administration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864CA-60A6-42B1-A443-7F8B0ABA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430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7C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7C6D"/>
                </a:solidFill>
                <a:latin typeface="Arial"/>
                <a:ea typeface="Arial"/>
                <a:cs typeface="Arial"/>
              </a:rPr>
              <a:t>Before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749F4-27D5-4F01-B207-4A32FC16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41433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Add real member details and contribution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3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B43"/>
                </a:solidFill>
                <a:latin typeface="Arial"/>
                <a:ea typeface="Arial"/>
                <a:cs typeface="Arial"/>
              </a:rPr>
              <a:t>Validate with stakeholders and obtain lecturer approval for maintenance.</a:t>
            </a:r>
          </a:p>
        </p:txBody>
      </p:sp>
    </p:spTree>
    <p:extLst>
      <p:ext uri="{BB962C8B-B14F-4D97-AF65-F5344CB8AC3E}">
        <p14:creationId xmlns:p14="http://schemas.microsoft.com/office/powerpoint/2010/main" val="2146641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2026-09-16T08:31:30.2650000Z</dcterms:created>
  <dcterms:modified xsi:type="dcterms:W3CDTF">2026-09-16T08:31:30.2650000Z</dcterms:modified>
</coreProperties>
</file>